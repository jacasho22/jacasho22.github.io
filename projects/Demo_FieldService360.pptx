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Cumplimiento SLA (%)</c:v>
                </c:pt>
              </c:strCache>
            </c:strRef>
          </c:tx>
          <c:spPr>
            <a:solidFill>
              <a:srgbClr val="0E7C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7C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C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7B2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7C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7C6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Madrid</c:v>
                  </c:pt>
                  <c:pt idx="1">
                    <c:v>Barcelona</c:v>
                  </c:pt>
                  <c:pt idx="2">
                    <c:v>Valencia</c:v>
                  </c:pt>
                  <c:pt idx="3">
                    <c:v>Sevilla</c:v>
                  </c:pt>
                  <c:pt idx="4">
                    <c:v>Bilbao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</c:v>
                </c:pt>
                <c:pt idx="1">
                  <c:v>91</c:v>
                </c:pt>
                <c:pt idx="2">
                  <c:v>88</c:v>
                </c:pt>
                <c:pt idx="3">
                  <c:v>94</c:v>
                </c:pt>
                <c:pt idx="4">
                  <c:v>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7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Ahorro estimado (€)</c:v>
                </c:pt>
              </c:strCache>
            </c:strRef>
          </c:tx>
          <c:spPr>
            <a:solidFill>
              <a:srgbClr val="0E7C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Km en vacío</c:v>
                  </c:pt>
                  <c:pt idx="1">
                    <c:v>Partes digitales</c:v>
                  </c:pt>
                  <c:pt idx="2">
                    <c:v>2ª visitas evitables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85000</c:v>
                </c:pt>
                <c:pt idx="1">
                  <c:v>180000</c:v>
                </c:pt>
                <c:pt idx="2">
                  <c:v>60000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Escenario conservador (€)</c:v>
                </c:pt>
              </c:strCache>
            </c:strRef>
          </c:tx>
          <c:spPr>
            <a:solidFill>
              <a:srgbClr val="C8ED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Km en vacío</c:v>
                  </c:pt>
                  <c:pt idx="1">
                    <c:v>Partes digitales</c:v>
                  </c:pt>
                  <c:pt idx="2">
                    <c:v>2ª visitas evitables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52000</c:v>
                </c:pt>
                <c:pt idx="1">
                  <c:v>120000</c:v>
                </c:pt>
                <c:pt idx="2">
                  <c:v>40000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image" Target="../media/image-7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E7C6B">
              <a:alpha val="12000"/>
            </a:srgbClr>
          </a:solidFill>
          <a:ln w="12700">
            <a:solidFill>
              <a:srgbClr val="0E7C6B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2560320" cy="2560320"/>
          </a:xfrm>
          <a:prstGeom prst="ellipse">
            <a:avLst/>
          </a:prstGeom>
          <a:solidFill>
            <a:srgbClr val="0E7C6B">
              <a:alpha val="8000"/>
            </a:srgbClr>
          </a:solidFill>
          <a:ln w="12700">
            <a:solidFill>
              <a:srgbClr val="0E7C6B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1737360" cy="292608"/>
          </a:xfrm>
          <a:prstGeom prst="roundRect">
            <a:avLst>
              <a:gd name="adj" fmla="val 37500"/>
            </a:avLst>
          </a:prstGeom>
          <a:solidFill>
            <a:srgbClr val="1A9980"/>
          </a:solidFill>
          <a:ln w="12700">
            <a:solidFill>
              <a:srgbClr val="1A99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029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CONSULTOR PREVENTA · PORTFOLIO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FieldService360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8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para LogiGroup S.A.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2578608"/>
            <a:ext cx="3200400" cy="27432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88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DURACIÓN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2788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45 min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1363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FORMATO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0" y="31363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Demo + conversación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48386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ASISTENTES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6000" y="348386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Director de Operaciones · Coordinador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4592" y="4434840"/>
            <a:ext cx="1773936" cy="708660"/>
          </a:xfrm>
          <a:prstGeom prst="rect">
            <a:avLst/>
          </a:prstGeom>
          <a:solidFill>
            <a:srgbClr val="2D3142"/>
          </a:solidFill>
          <a:ln w="12700">
            <a:solidFill>
              <a:srgbClr val="2D31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" y="4462272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4592" y="4727448"/>
            <a:ext cx="1773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DE8"/>
                </a:solidFill>
              </a:rPr>
              <a:t>Apertura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956816" y="4434840"/>
            <a:ext cx="1773936" cy="70866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56816" y="4462272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56816" y="4727448"/>
            <a:ext cx="1773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DE8"/>
                </a:solidFill>
              </a:rPr>
              <a:t>Dispatch Board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749040" y="4434840"/>
            <a:ext cx="1773936" cy="70866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4462272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49040" y="4727448"/>
            <a:ext cx="1773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DE8"/>
                </a:solidFill>
              </a:rPr>
              <a:t>App técnico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541264" y="4434840"/>
            <a:ext cx="1773936" cy="70866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41264" y="4462272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41264" y="4727448"/>
            <a:ext cx="1773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DE8"/>
                </a:solidFill>
              </a:rPr>
              <a:t>Portal cliente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33488" y="4434840"/>
            <a:ext cx="1773936" cy="708660"/>
          </a:xfrm>
          <a:prstGeom prst="rect">
            <a:avLst/>
          </a:prstGeom>
          <a:solidFill>
            <a:srgbClr val="1A9980"/>
          </a:solidFill>
          <a:ln w="12700">
            <a:solidFill>
              <a:srgbClr val="1A99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33488" y="4462272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 · 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33488" y="4727448"/>
            <a:ext cx="1773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EDE8"/>
                </a:solidFill>
              </a:rPr>
              <a:t>Dashboard · Cierre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80160" cy="256032"/>
          </a:xfrm>
          <a:prstGeom prst="roundRect">
            <a:avLst>
              <a:gd name="adj" fmla="val 42857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ESTRUCTURA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vamos a trabajar hoy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960120"/>
          </a:xfrm>
          <a:prstGeom prst="rect">
            <a:avLst/>
          </a:prstGeom>
          <a:solidFill>
            <a:srgbClr val="0E7C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636776"/>
            <a:ext cx="420624" cy="420624"/>
          </a:xfrm>
          <a:prstGeom prst="ellipse">
            <a:avLst/>
          </a:prstGeom>
          <a:solidFill>
            <a:srgbClr val="0E7C6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73352"/>
            <a:ext cx="347472" cy="3474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170432" y="1435608"/>
            <a:ext cx="329184" cy="201168"/>
          </a:xfrm>
          <a:prstGeom prst="roundRect">
            <a:avLst>
              <a:gd name="adj" fmla="val 54545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70432" y="14356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6B"/>
                </a:solidFill>
              </a:rPr>
              <a:t>00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554480" y="14447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Apertura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749040" y="144475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min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554480" y="17373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Confirmamos juntos los 3 problemas principales antes de abrir el ordenador.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" y="246888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2468880"/>
            <a:ext cx="54864" cy="960120"/>
          </a:xfrm>
          <a:prstGeom prst="rect">
            <a:avLst/>
          </a:prstGeom>
          <a:solidFill>
            <a:srgbClr val="0E7C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792" y="2734056"/>
            <a:ext cx="420624" cy="420624"/>
          </a:xfrm>
          <a:prstGeom prst="ellipse">
            <a:avLst/>
          </a:prstGeom>
          <a:solidFill>
            <a:srgbClr val="0E7C6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770632"/>
            <a:ext cx="347472" cy="34747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1170432" y="2532888"/>
            <a:ext cx="329184" cy="201168"/>
          </a:xfrm>
          <a:prstGeom prst="roundRect">
            <a:avLst>
              <a:gd name="adj" fmla="val 54545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170432" y="253288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6B"/>
                </a:solidFill>
              </a:rPr>
              <a:t>01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554480" y="25420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Dispatch Board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749040" y="254203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 min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554480" y="2834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Asignación de técnicos en tiempo real. Sin llamadas, sin Excel.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57200" y="356616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57200" y="3566160"/>
            <a:ext cx="54864" cy="960120"/>
          </a:xfrm>
          <a:prstGeom prst="rect">
            <a:avLst/>
          </a:prstGeom>
          <a:solidFill>
            <a:srgbClr val="0E7C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21792" y="3831336"/>
            <a:ext cx="420624" cy="420624"/>
          </a:xfrm>
          <a:prstGeom prst="ellipse">
            <a:avLst/>
          </a:prstGeom>
          <a:solidFill>
            <a:srgbClr val="0E7C6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867912"/>
            <a:ext cx="347472" cy="347472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1170432" y="3630168"/>
            <a:ext cx="329184" cy="201168"/>
          </a:xfrm>
          <a:prstGeom prst="roundRect">
            <a:avLst>
              <a:gd name="adj" fmla="val 54545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1170432" y="36301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6B"/>
                </a:solidFill>
              </a:rPr>
              <a:t>02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554480" y="36393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App del técnico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3749040" y="363931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 min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554480" y="39319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Del parte en papel a cerrar la orden en menos de 2 minutos desde el móvil.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4892040" y="137160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4892040" y="1371600"/>
            <a:ext cx="54864" cy="960120"/>
          </a:xfrm>
          <a:prstGeom prst="rect">
            <a:avLst/>
          </a:prstGeom>
          <a:solidFill>
            <a:srgbClr val="0E7C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5056632" y="1636776"/>
            <a:ext cx="420624" cy="420624"/>
          </a:xfrm>
          <a:prstGeom prst="ellipse">
            <a:avLst/>
          </a:prstGeom>
          <a:solidFill>
            <a:srgbClr val="0E7C6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1673352"/>
            <a:ext cx="347472" cy="347472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5605272" y="1435608"/>
            <a:ext cx="329184" cy="201168"/>
          </a:xfrm>
          <a:prstGeom prst="roundRect">
            <a:avLst>
              <a:gd name="adj" fmla="val 54545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5605272" y="14356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6B"/>
                </a:solidFill>
              </a:rPr>
              <a:t>03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5989320" y="14447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Portal cliente final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8183880" y="144475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min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5989320" y="17373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El cliente corporativo ve en tiempo real cada intervención. SLAs documentados.</a:t>
            </a:r>
            <a:endParaRPr lang="en-US" sz="950" dirty="0"/>
          </a:p>
        </p:txBody>
      </p:sp>
      <p:sp>
        <p:nvSpPr>
          <p:cNvPr id="41" name="Shape 35"/>
          <p:cNvSpPr/>
          <p:nvPr/>
        </p:nvSpPr>
        <p:spPr>
          <a:xfrm>
            <a:off x="4892040" y="246888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4892040" y="2468880"/>
            <a:ext cx="54864" cy="960120"/>
          </a:xfrm>
          <a:prstGeom prst="rect">
            <a:avLst/>
          </a:prstGeom>
          <a:solidFill>
            <a:srgbClr val="0E7C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5056632" y="2734056"/>
            <a:ext cx="420624" cy="420624"/>
          </a:xfrm>
          <a:prstGeom prst="ellipse">
            <a:avLst/>
          </a:prstGeom>
          <a:solidFill>
            <a:srgbClr val="0E7C6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3208" y="2770632"/>
            <a:ext cx="347472" cy="347472"/>
          </a:xfrm>
          <a:prstGeom prst="rect">
            <a:avLst/>
          </a:prstGeom>
        </p:spPr>
      </p:pic>
      <p:sp>
        <p:nvSpPr>
          <p:cNvPr id="45" name="Shape 38"/>
          <p:cNvSpPr/>
          <p:nvPr/>
        </p:nvSpPr>
        <p:spPr>
          <a:xfrm>
            <a:off x="5605272" y="2532888"/>
            <a:ext cx="329184" cy="201168"/>
          </a:xfrm>
          <a:prstGeom prst="roundRect">
            <a:avLst>
              <a:gd name="adj" fmla="val 54545"/>
            </a:avLst>
          </a:prstGeom>
          <a:solidFill>
            <a:srgbClr val="EAF7F5"/>
          </a:solidFill>
          <a:ln w="12700">
            <a:solidFill>
              <a:srgbClr val="EAF7F5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5605272" y="253288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6B"/>
                </a:solidFill>
              </a:rPr>
              <a:t>04</a:t>
            </a:r>
            <a:endParaRPr lang="en-US" sz="900" dirty="0"/>
          </a:p>
        </p:txBody>
      </p:sp>
      <p:sp>
        <p:nvSpPr>
          <p:cNvPr id="47" name="Text 40"/>
          <p:cNvSpPr/>
          <p:nvPr/>
        </p:nvSpPr>
        <p:spPr>
          <a:xfrm>
            <a:off x="5989320" y="25420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Dashboard de SLAs</a:t>
            </a:r>
            <a:endParaRPr lang="en-US" sz="1200" dirty="0"/>
          </a:p>
        </p:txBody>
      </p:sp>
      <p:sp>
        <p:nvSpPr>
          <p:cNvPr id="48" name="Text 41"/>
          <p:cNvSpPr/>
          <p:nvPr/>
        </p:nvSpPr>
        <p:spPr>
          <a:xfrm>
            <a:off x="8183880" y="254203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 min</a:t>
            </a:r>
            <a:endParaRPr lang="en-US" sz="900" dirty="0"/>
          </a:p>
        </p:txBody>
      </p:sp>
      <p:sp>
        <p:nvSpPr>
          <p:cNvPr id="49" name="Text 42"/>
          <p:cNvSpPr/>
          <p:nvPr/>
        </p:nvSpPr>
        <p:spPr>
          <a:xfrm>
            <a:off x="5989320" y="28346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Datos de operaciones y cumplimiento de SLAs para la dirección.</a:t>
            </a:r>
            <a:endParaRPr lang="en-US" sz="950" dirty="0"/>
          </a:p>
        </p:txBody>
      </p:sp>
      <p:sp>
        <p:nvSpPr>
          <p:cNvPr id="50" name="Shape 43"/>
          <p:cNvSpPr/>
          <p:nvPr/>
        </p:nvSpPr>
        <p:spPr>
          <a:xfrm>
            <a:off x="4892040" y="356616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4892040" y="3566160"/>
            <a:ext cx="54864" cy="960120"/>
          </a:xfrm>
          <a:prstGeom prst="rect">
            <a:avLst/>
          </a:prstGeom>
          <a:solidFill>
            <a:srgbClr val="E07B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5056632" y="3831336"/>
            <a:ext cx="420624" cy="420624"/>
          </a:xfrm>
          <a:prstGeom prst="ellipse">
            <a:avLst/>
          </a:prstGeom>
          <a:solidFill>
            <a:srgbClr val="E07B27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3208" y="3867912"/>
            <a:ext cx="347472" cy="347472"/>
          </a:xfrm>
          <a:prstGeom prst="rect">
            <a:avLst/>
          </a:prstGeom>
        </p:spPr>
      </p:pic>
      <p:sp>
        <p:nvSpPr>
          <p:cNvPr id="54" name="Shape 46"/>
          <p:cNvSpPr/>
          <p:nvPr/>
        </p:nvSpPr>
        <p:spPr>
          <a:xfrm>
            <a:off x="5605272" y="3630168"/>
            <a:ext cx="329184" cy="201168"/>
          </a:xfrm>
          <a:prstGeom prst="roundRect">
            <a:avLst>
              <a:gd name="adj" fmla="val 54545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5605272" y="36301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B27"/>
                </a:solidFill>
              </a:rPr>
              <a:t>05</a:t>
            </a:r>
            <a:endParaRPr lang="en-US" sz="900" dirty="0"/>
          </a:p>
        </p:txBody>
      </p:sp>
      <p:sp>
        <p:nvSpPr>
          <p:cNvPr id="56" name="Text 48"/>
          <p:cNvSpPr/>
          <p:nvPr/>
        </p:nvSpPr>
        <p:spPr>
          <a:xfrm>
            <a:off x="5989320" y="36393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Cierre y ROI</a:t>
            </a:r>
            <a:endParaRPr lang="en-US" sz="1200" dirty="0"/>
          </a:p>
        </p:txBody>
      </p:sp>
      <p:sp>
        <p:nvSpPr>
          <p:cNvPr id="57" name="Text 49"/>
          <p:cNvSpPr/>
          <p:nvPr/>
        </p:nvSpPr>
        <p:spPr>
          <a:xfrm>
            <a:off x="8183880" y="363931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 min</a:t>
            </a:r>
            <a:endParaRPr lang="en-US" sz="900" dirty="0"/>
          </a:p>
        </p:txBody>
      </p:sp>
      <p:sp>
        <p:nvSpPr>
          <p:cNvPr id="58" name="Text 50"/>
          <p:cNvSpPr/>
          <p:nvPr/>
        </p:nvSpPr>
        <p:spPr>
          <a:xfrm>
            <a:off x="5989320" y="39319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Resumen de valor, estimación de ahorro y propuesta de siguientes pasos.</a:t>
            </a:r>
            <a:endParaRPr lang="en-US" sz="950" dirty="0"/>
          </a:p>
        </p:txBody>
      </p:sp>
      <p:sp>
        <p:nvSpPr>
          <p:cNvPr id="59" name="Shape 51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solidFill>
            <a:srgbClr val="EAF7F5"/>
          </a:solidFill>
          <a:ln w="6350">
            <a:solidFill>
              <a:srgbClr val="C8EDE8"/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7C6B"/>
                </a:solidFill>
              </a:rPr>
              <a:t>Duración total: 45 minutos  ·  El cliente debe hablar el 40% del tiempo  ·  Cada bloque cierra con una pregunta de validación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822960" cy="237744"/>
          </a:xfrm>
          <a:prstGeom prst="roundRect">
            <a:avLst>
              <a:gd name="adj" fmla="val 46154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BLOQUE 00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17320" y="1828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Apertura — antes de abrir el ordenador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5212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DE8"/>
                </a:solidFill>
              </a:rPr>
              <a:t>5 minutos  ·  Objetivo: confirmar que la demo será relevante para ellos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303520" cy="2606040"/>
          </a:xfrm>
          <a:prstGeom prst="rect">
            <a:avLst/>
          </a:prstGeom>
          <a:solidFill>
            <a:srgbClr val="EAF7F5"/>
          </a:solidFill>
          <a:ln w="10160">
            <a:solidFill>
              <a:srgbClr val="C8ED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618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6B"/>
                </a:solidFill>
              </a:rPr>
              <a:t>Script recomendado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572768"/>
            <a:ext cx="4937760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3142"/>
                </a:solidFill>
              </a:rPr>
              <a:t>"Antes de entrar en la herramienta, quiero confirmar que lo que vais a ver hoy está alineado con lo que más os preocupa.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2D3142"/>
                </a:solidFill>
              </a:rPr>
              <a:t>En nuestras reuniones anteriores nos habéis comentado tres cosas: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2D3142"/>
                </a:solidFill>
              </a:rPr>
              <a:t>1. El coordinador pierde demasiado tiempo al teléfono gestionando incidencias.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2D3142"/>
                </a:solidFill>
              </a:rPr>
              <a:t>2. No tenéis forma de demostrar tiempos de respuesta a vuestro cliente corporativo.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2D3142"/>
                </a:solidFill>
              </a:rPr>
              <a:t>3. Los técnicos rellenan partes en papel con retrasos de 24–48 horas.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2D3142"/>
                </a:solidFill>
              </a:rPr>
              <a:t>¿Sigue siendo así? ¿Ha cambiado algo desde que hablamos?"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89320" y="12618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Señales a escuchar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9320" y="1600200"/>
            <a:ext cx="2926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755648"/>
            <a:ext cx="329184" cy="329184"/>
          </a:xfrm>
          <a:prstGeom prst="ellipse">
            <a:avLst/>
          </a:prstGeom>
          <a:solidFill>
            <a:srgbClr val="E3F5EC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3912" y="1783080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537960" y="1664208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142"/>
                </a:solidFill>
              </a:rPr>
              <a:t>Confirman los 3 dolores → la demo sigue el orden planificado.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989320" y="2532888"/>
            <a:ext cx="2926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26480" y="2688336"/>
            <a:ext cx="329184" cy="329184"/>
          </a:xfrm>
          <a:prstGeom prst="ellipse">
            <a:avLst/>
          </a:prstGeom>
          <a:solidFill>
            <a:srgbClr val="EAF7F5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2715768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537960" y="2596896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142"/>
                </a:solidFill>
              </a:rPr>
              <a:t>Añaden un nuevo dolor → anotarlo y decir: "eso también lo veremos hoy".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989320" y="3465576"/>
            <a:ext cx="2926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126480" y="3621024"/>
            <a:ext cx="329184" cy="329184"/>
          </a:xfrm>
          <a:prstGeom prst="ellipse">
            <a:avLst/>
          </a:prstGeom>
          <a:solidFill>
            <a:srgbClr val="FEF3E2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3648456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37960" y="3529584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142"/>
                </a:solidFill>
              </a:rPr>
              <a:t>Restan importancia a algo → reduce el tiempo de ese bloque y amplía el relevante.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solidFill>
            <a:srgbClr val="EAF7F5"/>
          </a:solidFill>
          <a:ln w="6350">
            <a:solidFill>
              <a:srgbClr val="C8EDE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7C6B"/>
                </a:solidFill>
              </a:rPr>
              <a:t>Regla de oro: cada pantalla va precedida de «¿Cómo hacéis esto ahora mismo?» — el contraste hace el trabajo.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822960" cy="237744"/>
          </a:xfrm>
          <a:prstGeom prst="roundRect">
            <a:avLst>
              <a:gd name="adj" fmla="val 46154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BLOQUE 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17320" y="1828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Dispatch Board — visión del coordinador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5212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DE8"/>
                </a:solidFill>
              </a:rPr>
              <a:t>8 minutos  ·  Pantalla: mapa en tiempo real con todos los técnicos activos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8229600" cy="475488"/>
          </a:xfrm>
          <a:prstGeom prst="rect">
            <a:avLst/>
          </a:prstGeom>
          <a:solidFill>
            <a:srgbClr val="FEF3E2"/>
          </a:solidFill>
          <a:ln w="10160">
            <a:solidFill>
              <a:srgbClr val="E07B2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79576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143000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E07B27"/>
                </a:solidFill>
              </a:rPr>
              <a:t>Pregunta de apertura: «Si yo os pregunto ahora mismo dónde está cada uno de vuestros 180 técnicos, ¿cuánto tiempo os llevaría saberlo?»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1737360"/>
            <a:ext cx="416052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1737360"/>
            <a:ext cx="54864" cy="102412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2057400"/>
            <a:ext cx="384048" cy="384048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88720" y="18470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Mapa en tiempo real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88720" y="21488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Todos los técnicos geolocalizados. Estado visible: disponible, en ruta, en intervención, descanso.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828032" y="1737360"/>
            <a:ext cx="416052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28032" y="1737360"/>
            <a:ext cx="54864" cy="102412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10912" y="2057400"/>
            <a:ext cx="384048" cy="384048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10912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559552" y="18470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Nueva orden urgente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559552" y="21488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Simular que llega una avería en una tienda del cliente corporativo. El coordinador la recibe en el panel.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7200" y="2907792"/>
            <a:ext cx="416052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7200" y="2907792"/>
            <a:ext cx="54864" cy="102412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0080" y="3227832"/>
            <a:ext cx="384048" cy="384048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188720" y="3017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Sugerencia automática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188720" y="331927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El sistema propone los 3 técnicos más cercanos con disponibilidad. Asignación con un solo clic.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828032" y="2907792"/>
            <a:ext cx="416052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828032" y="2907792"/>
            <a:ext cx="54864" cy="102412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010912" y="3227832"/>
            <a:ext cx="384048" cy="384048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010912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559552" y="3017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El técnico lo recibe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559552" y="331927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La orden aparece en el móvil del técnico en tiempo real con dirección y detalles. Sin llamadas.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57200" y="4480560"/>
            <a:ext cx="8229600" cy="384048"/>
          </a:xfrm>
          <a:prstGeom prst="rect">
            <a:avLst/>
          </a:prstGeom>
          <a:solidFill>
            <a:srgbClr val="EAF7F5"/>
          </a:solidFill>
          <a:ln w="6350">
            <a:solidFill>
              <a:srgbClr val="C8EDE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48640" y="448056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7C6B"/>
                </a:solidFill>
              </a:rPr>
              <a:t>Cierre del bloque: «¿Esto resuelve el problema de las llamadas de coordinación? ¿Hay alguna casuística de vuestro día a día que no cubriría?»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822960" cy="237744"/>
          </a:xfrm>
          <a:prstGeom prst="roundRect">
            <a:avLst>
              <a:gd name="adj" fmla="val 46154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BLOQUE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17320" y="1828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 del técnico — del papel al móvil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5212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DE8"/>
                </a:solidFill>
              </a:rPr>
              <a:t>7 minutos  ·  Dispositivo: smartphone (iOS o Android)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8229600" cy="475488"/>
          </a:xfrm>
          <a:prstGeom prst="rect">
            <a:avLst/>
          </a:prstGeom>
          <a:solidFill>
            <a:srgbClr val="FEF3E2"/>
          </a:solidFill>
          <a:ln w="10160">
            <a:solidFill>
              <a:srgbClr val="E07B2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79576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143000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E07B27"/>
                </a:solidFill>
              </a:rPr>
              <a:t>Pregunta de apertura: «¿Cuánto tiempo pasa desde que el técnico termina la intervención hasta que vosotros tenéis los datos en el sistema?»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60120" y="17647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ANTES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74920" y="17647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6B"/>
                </a:solidFill>
              </a:rPr>
              <a:t>CON FIELDSERVICE360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2084832"/>
            <a:ext cx="3657600" cy="228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29200" y="2084832"/>
            <a:ext cx="3657600" cy="228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E7C6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12848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14400" y="217627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</a:rPr>
              <a:t>Parte en papel rellenado a mano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615184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" y="257860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</a:rPr>
              <a:t>Entregado en oficina al final del día</a:t>
            </a:r>
            <a:endParaRPr lang="en-US" sz="10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017520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" y="298094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</a:rPr>
              <a:t>Escaneado y digitalizado manualmente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419856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14400" y="338328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</a:rPr>
              <a:t>Datos disponibles en 24–48 horas</a:t>
            </a:r>
            <a:endParaRPr lang="en-US" sz="10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822192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14400" y="378561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</a:rPr>
              <a:t>Sin fotografías ni firma del cliente</a:t>
            </a:r>
            <a:endParaRPr lang="en-US" sz="10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360" y="2212848"/>
            <a:ext cx="201168" cy="20116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486400" y="217627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</a:rPr>
              <a:t>Recibe la orden en el móvil con historial</a:t>
            </a:r>
            <a:endParaRPr lang="en-US" sz="10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6360" y="2615184"/>
            <a:ext cx="201168" cy="20116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486400" y="257860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</a:rPr>
              <a:t>Checklist digital + fotos en la intervención</a:t>
            </a:r>
            <a:endParaRPr lang="en-US" sz="10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66360" y="3017520"/>
            <a:ext cx="201168" cy="20116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486400" y="298094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</a:rPr>
              <a:t>Firma del cliente en pantalla</a:t>
            </a:r>
            <a:endParaRPr lang="en-US" sz="10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66360" y="3419856"/>
            <a:ext cx="201168" cy="201168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5486400" y="338328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</a:rPr>
              <a:t>Orden cerrada en &lt; 90 segundos</a:t>
            </a:r>
            <a:endParaRPr lang="en-US" sz="1000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66360" y="3822192"/>
            <a:ext cx="201168" cy="201168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5486400" y="378561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</a:rPr>
              <a:t>Datos en el sistema en tiempo real</a:t>
            </a:r>
            <a:endParaRPr lang="en-US" sz="1000" dirty="0"/>
          </a:p>
        </p:txBody>
      </p:sp>
      <p:sp>
        <p:nvSpPr>
          <p:cNvPr id="34" name="Shape 21"/>
          <p:cNvSpPr/>
          <p:nvPr/>
        </p:nvSpPr>
        <p:spPr>
          <a:xfrm>
            <a:off x="4206240" y="3063240"/>
            <a:ext cx="731520" cy="329184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5" name="Text 22"/>
          <p:cNvSpPr/>
          <p:nvPr/>
        </p:nvSpPr>
        <p:spPr>
          <a:xfrm>
            <a:off x="4206240" y="306324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36" name="Shape 23"/>
          <p:cNvSpPr/>
          <p:nvPr/>
        </p:nvSpPr>
        <p:spPr>
          <a:xfrm>
            <a:off x="3858768" y="4206240"/>
            <a:ext cx="1426464" cy="512064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7" name="Text 24"/>
          <p:cNvSpPr/>
          <p:nvPr/>
        </p:nvSpPr>
        <p:spPr>
          <a:xfrm>
            <a:off x="3858768" y="4206240"/>
            <a:ext cx="14264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&lt; 90 seg para cerrar una orden</a:t>
            </a:r>
            <a:endParaRPr lang="en-US" sz="850" dirty="0"/>
          </a:p>
        </p:txBody>
      </p:sp>
      <p:sp>
        <p:nvSpPr>
          <p:cNvPr id="38" name="Shape 25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solidFill>
            <a:srgbClr val="EAF7F5"/>
          </a:solidFill>
          <a:ln w="6350">
            <a:solidFill>
              <a:srgbClr val="C8EDE8"/>
            </a:solidFill>
            <a:prstDash val="solid"/>
          </a:ln>
        </p:spPr>
      </p:sp>
      <p:sp>
        <p:nvSpPr>
          <p:cNvPr id="39" name="Text 26"/>
          <p:cNvSpPr/>
          <p:nvPr/>
        </p:nvSpPr>
        <p:spPr>
          <a:xfrm>
            <a:off x="548640" y="477316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7C6B"/>
                </a:solidFill>
              </a:rPr>
              <a:t>Cierre del bloque: «¿Veis viable que vuestros técnicos adopten algo así? ¿Qué creéis que sería lo más difícil para ellos?»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822960" cy="237744"/>
          </a:xfrm>
          <a:prstGeom prst="roundRect">
            <a:avLst>
              <a:gd name="adj" fmla="val 46154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BLOQUE 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17320" y="1828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Portal del cliente final — trazabilidad para el cliente corporativo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17320" y="5212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DE8"/>
                </a:solidFill>
              </a:rPr>
              <a:t>5 minutos  ·  Pantalla: portal web del responsable de mantenimiento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5303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133856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EDE8"/>
                </a:solidFill>
              </a:rPr>
              <a:t>Este es el bloque que diferencia FieldService360. Sin trazabilidad digital, LogiGroup no puede cumplir el contrato corporativo.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1810512"/>
            <a:ext cx="4160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1792" y="2139696"/>
            <a:ext cx="420624" cy="420624"/>
          </a:xfrm>
          <a:prstGeom prst="ellipse">
            <a:avLst/>
          </a:prstGeom>
          <a:solidFill>
            <a:srgbClr val="0E7C6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7627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07008" y="1901952"/>
            <a:ext cx="3273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Estado en tiempo real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207008" y="2203704"/>
            <a:ext cx="3273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El cliente ve todas sus órdenes: pendiente, técnico en ruta, en intervención, cerrada. Para sus 80 puntos de venta.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828032" y="1810512"/>
            <a:ext cx="4160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992624" y="2139696"/>
            <a:ext cx="420624" cy="420624"/>
          </a:xfrm>
          <a:prstGeom prst="ellipse">
            <a:avLst/>
          </a:prstGeom>
          <a:solidFill>
            <a:srgbClr val="0E7C6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17627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577840" y="1901952"/>
            <a:ext cx="3273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Tracking del técnico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577840" y="2203704"/>
            <a:ext cx="3273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Cuando el técnico está en ruta, el cliente ve su posición en el mapa, igual que un seguimiento de mensajería.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57200" y="3044952"/>
            <a:ext cx="4160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21792" y="3374136"/>
            <a:ext cx="420624" cy="420624"/>
          </a:xfrm>
          <a:prstGeom prst="ellipse">
            <a:avLst/>
          </a:prstGeom>
          <a:solidFill>
            <a:srgbClr val="0E7C6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410712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07008" y="3136392"/>
            <a:ext cx="3273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Notificaciones automáticas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207008" y="3438144"/>
            <a:ext cx="3273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El cliente recibe una alerta cuando el técnico llega y otra cuando cierra la intervención. Sin llamadas.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828032" y="3044952"/>
            <a:ext cx="4160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992624" y="3374136"/>
            <a:ext cx="420624" cy="420624"/>
          </a:xfrm>
          <a:prstGeom prst="ellipse">
            <a:avLst/>
          </a:prstGeom>
          <a:solidFill>
            <a:srgbClr val="0E7C6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410712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577840" y="3136392"/>
            <a:ext cx="3273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Historial y evidencias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577840" y="3438144"/>
            <a:ext cx="3273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Descarga del historial completo por punto de venta: tiempos de respuesta, firma digital, fotos del trabajo.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457200" y="4754880"/>
            <a:ext cx="8229600" cy="384048"/>
          </a:xfrm>
          <a:prstGeom prst="rect">
            <a:avLst/>
          </a:prstGeom>
          <a:solidFill>
            <a:srgbClr val="EAF7F5"/>
          </a:solidFill>
          <a:ln w="6350">
            <a:solidFill>
              <a:srgbClr val="C8EDE8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548640" y="475488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7C6B"/>
                </a:solidFill>
              </a:rPr>
              <a:t>Cierre del bloque: «¿Es esto lo que vuestro cliente corporativo os está pidiendo? ¿Os genera alguna duda sobre cómo encajaría con sus sistemas?»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822960" cy="237744"/>
          </a:xfrm>
          <a:prstGeom prst="roundRect">
            <a:avLst>
              <a:gd name="adj" fmla="val 46154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BLOQUE 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17320" y="1828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Dashboard de SLAs y operaciones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5212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DE8"/>
                </a:solidFill>
              </a:rPr>
              <a:t>8 minutos  ·  Pantalla: panel de reporting del Director de Operaciones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8229600" cy="475488"/>
          </a:xfrm>
          <a:prstGeom prst="rect">
            <a:avLst/>
          </a:prstGeom>
          <a:solidFill>
            <a:srgbClr val="FEF3E2"/>
          </a:solidFill>
          <a:ln w="10160">
            <a:solidFill>
              <a:srgbClr val="E07B2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79576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143000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E07B27"/>
                </a:solidFill>
              </a:rPr>
              <a:t>Pregunta de apertura: «Cuando termina el mes, ¿podríais demostrar con datos que habéis cumplido los tiempos de respuesta si un cliente os lo reclamara?»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1737360"/>
            <a:ext cx="1965960" cy="86868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792224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2h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457200" y="2231136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Tiempo medio respuesta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560320" y="1737360"/>
            <a:ext cx="1965960" cy="86868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60320" y="1792224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2560320" y="2231136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Resolución 1ª visita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663440" y="1737360"/>
            <a:ext cx="1965960" cy="8686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63440" y="1792224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4663440" y="2231136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SLA cumplido (mes)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766560" y="1737360"/>
            <a:ext cx="1965960" cy="868680"/>
          </a:xfrm>
          <a:prstGeom prst="rect">
            <a:avLst/>
          </a:prstGeom>
          <a:solidFill>
            <a:srgbClr val="2D3142"/>
          </a:solidFill>
          <a:ln w="12700">
            <a:solidFill>
              <a:srgbClr val="2D314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0" y="1792224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6766560" y="2231136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Técnicos activos hoy</a:t>
            </a:r>
            <a:endParaRPr lang="en-US" sz="8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57200" y="2743200"/>
          <a:ext cx="50292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Text 19"/>
          <p:cNvSpPr/>
          <p:nvPr/>
        </p:nvSpPr>
        <p:spPr>
          <a:xfrm>
            <a:off x="457200" y="26060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Cumplimiento de SLA por delegación (%)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669280" y="260604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Lo que ve el Director de Operaciones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5669280" y="2907792"/>
            <a:ext cx="32461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779008" y="2990088"/>
            <a:ext cx="237744" cy="237744"/>
          </a:xfrm>
          <a:prstGeom prst="ellipse">
            <a:avLst/>
          </a:prstGeom>
          <a:solidFill>
            <a:srgbClr val="EAF7F5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296" y="3008376"/>
            <a:ext cx="201168" cy="20116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108192" y="2944368"/>
            <a:ext cx="2715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142"/>
                </a:solidFill>
              </a:rPr>
              <a:t>Alertas automáticas en rojo/ámbar/verde por incumplimiento de SLA.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5669280" y="3364992"/>
            <a:ext cx="32461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779008" y="3447288"/>
            <a:ext cx="237744" cy="237744"/>
          </a:xfrm>
          <a:prstGeom prst="ellipse">
            <a:avLst/>
          </a:prstGeom>
          <a:solidFill>
            <a:srgbClr val="EAF7F5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296" y="3465576"/>
            <a:ext cx="201168" cy="20116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108192" y="3401568"/>
            <a:ext cx="2715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142"/>
                </a:solidFill>
              </a:rPr>
              <a:t>Informe PDF mensual exportable, listo para enviar al cliente corporativo.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5669280" y="3822192"/>
            <a:ext cx="32461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5779008" y="3904488"/>
            <a:ext cx="237744" cy="237744"/>
          </a:xfrm>
          <a:prstGeom prst="ellipse">
            <a:avLst/>
          </a:prstGeom>
          <a:solidFill>
            <a:srgbClr val="EAF7F5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296" y="3922776"/>
            <a:ext cx="201168" cy="20116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108192" y="3858768"/>
            <a:ext cx="2715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142"/>
                </a:solidFill>
              </a:rPr>
              <a:t>Comparativa por delegación para identificar equipos que rinden por debajo.</a:t>
            </a:r>
            <a:endParaRPr lang="en-US" sz="850" dirty="0"/>
          </a:p>
        </p:txBody>
      </p:sp>
      <p:sp>
        <p:nvSpPr>
          <p:cNvPr id="37" name="Shape 30"/>
          <p:cNvSpPr/>
          <p:nvPr/>
        </p:nvSpPr>
        <p:spPr>
          <a:xfrm>
            <a:off x="5669280" y="4279392"/>
            <a:ext cx="32461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5779008" y="4361688"/>
            <a:ext cx="237744" cy="237744"/>
          </a:xfrm>
          <a:prstGeom prst="ellipse">
            <a:avLst/>
          </a:prstGeom>
          <a:solidFill>
            <a:srgbClr val="EAF7F5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7296" y="4379976"/>
            <a:ext cx="201168" cy="20116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108192" y="4315968"/>
            <a:ext cx="2715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142"/>
                </a:solidFill>
              </a:rPr>
              <a:t>Un clic en cualquier KPI muestra las órdenes concretas que lo componen.</a:t>
            </a:r>
            <a:endParaRPr lang="en-US" sz="850" dirty="0"/>
          </a:p>
        </p:txBody>
      </p:sp>
      <p:sp>
        <p:nvSpPr>
          <p:cNvPr id="41" name="Shape 33"/>
          <p:cNvSpPr/>
          <p:nvPr/>
        </p:nvSpPr>
        <p:spPr>
          <a:xfrm>
            <a:off x="457200" y="4754880"/>
            <a:ext cx="8229600" cy="384048"/>
          </a:xfrm>
          <a:prstGeom prst="rect">
            <a:avLst/>
          </a:prstGeom>
          <a:solidFill>
            <a:srgbClr val="EAF7F5"/>
          </a:solidFill>
          <a:ln w="6350">
            <a:solidFill>
              <a:srgbClr val="C8EDE8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548640" y="475488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7C6B"/>
                </a:solidFill>
              </a:rPr>
              <a:t>Cierre del bloque: «¿Este panel cubre lo que necesitáis para el día a día? ¿Hay algún KPI crítico para vosotros que no estéis viendo aquí?»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822960" cy="237744"/>
          </a:xfrm>
          <a:prstGeom prst="roundRect">
            <a:avLst>
              <a:gd name="adj" fmla="val 46154"/>
            </a:avLst>
          </a:prstGeom>
          <a:solidFill>
            <a:srgbClr val="E07B27"/>
          </a:solidFill>
          <a:ln w="12700">
            <a:solidFill>
              <a:srgbClr val="E07B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BLOQUE 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17320" y="1828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Estimación de ROI — datos del propio cliente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5212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DE8"/>
                </a:solidFill>
              </a:rPr>
              <a:t>Presentar cifras → preguntar si son razonables → dejar que el cliente las corrija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078992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941832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Fuentes de ahorro identificadas — datos de LogiGroup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669280" y="1078992"/>
            <a:ext cx="3246120" cy="804672"/>
          </a:xfrm>
          <a:prstGeom prst="rect">
            <a:avLst/>
          </a:prstGeom>
          <a:solidFill>
            <a:srgbClr val="F0F0F5"/>
          </a:solidFill>
          <a:ln w="15240">
            <a:solidFill>
              <a:srgbClr val="2D314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0" y="1115568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117.500€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669280" y="143560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Coste total año 1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669280" y="1618488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Licencias + implantación + formación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669280" y="1956816"/>
            <a:ext cx="3246120" cy="804672"/>
          </a:xfrm>
          <a:prstGeom prst="rect">
            <a:avLst/>
          </a:prstGeom>
          <a:solidFill>
            <a:srgbClr val="E3F5EC"/>
          </a:solidFill>
          <a:ln w="15240">
            <a:solidFill>
              <a:srgbClr val="1A7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0" y="1993392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+ 80%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669280" y="231343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ROI año 1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669280" y="2496312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Escenario conservador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669280" y="2834640"/>
            <a:ext cx="3246120" cy="804672"/>
          </a:xfrm>
          <a:prstGeom prst="rect">
            <a:avLst/>
          </a:prstGeom>
          <a:solidFill>
            <a:srgbClr val="EAF7F5"/>
          </a:solidFill>
          <a:ln w="15240">
            <a:solidFill>
              <a:srgbClr val="0E7C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0" y="2871216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6–7 m.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669280" y="3191256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Payback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669280" y="3374136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Recuperación de la inversión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57200" y="3730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Preguntas para validar con el cliente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4059936"/>
            <a:ext cx="8229600" cy="27432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114800"/>
            <a:ext cx="164592" cy="16459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22960" y="40690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3142"/>
                </a:solidFill>
              </a:rPr>
              <a:t>«El ahorro en desplazamientos, ¿os parece conservador o realista para vuestro caso?»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425696"/>
            <a:ext cx="164592" cy="16459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22960" y="437997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3142"/>
                </a:solidFill>
              </a:rPr>
              <a:t>«El tiempo de digitalización de partes, ¿encaja con lo que habéis medido vosotros?»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solidFill>
            <a:srgbClr val="F8FAFB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736592"/>
            <a:ext cx="164592" cy="16459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22960" y="469087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3142"/>
                </a:solidFill>
              </a:rPr>
              <a:t>«¿Hay alguna fuente de ahorro que no hemos contemplado en vuestro negocio?»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822960" cy="237744"/>
          </a:xfrm>
          <a:prstGeom prst="roundRect">
            <a:avLst>
              <a:gd name="adj" fmla="val 46154"/>
            </a:avLst>
          </a:prstGeom>
          <a:solidFill>
            <a:srgbClr val="E07B27"/>
          </a:solidFill>
          <a:ln w="12700">
            <a:solidFill>
              <a:srgbClr val="E07B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CIERRE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17320" y="1828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Siguientes pasos — propuesta de piloto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5212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DE8"/>
                </a:solidFill>
              </a:rPr>
              <a:t>No pedimos una decisión grande: pedimos un paso pequeño con riesgo bajo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120640" cy="1417320"/>
          </a:xfrm>
          <a:prstGeom prst="rect">
            <a:avLst/>
          </a:prstGeom>
          <a:solidFill>
            <a:srgbClr val="EAF7F5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704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6B"/>
                </a:solidFill>
              </a:rPr>
              <a:t>Oferta de piloto sin riesgo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32688" y="148132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</a:rPr>
              <a:t>4 semanas · 1 delegación · 30 técnicos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10512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32688" y="178308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</a:rPr>
              <a:t>Sin coste si no se alcanzan los criterios de éxito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12264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32688" y="208483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</a:rPr>
              <a:t>Criterios de éxito definidos conjuntamente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760720" y="1097280"/>
            <a:ext cx="3154680" cy="1417320"/>
          </a:xfrm>
          <a:prstGeom prst="rect">
            <a:avLst/>
          </a:prstGeom>
          <a:solidFill>
            <a:srgbClr val="E3F5EC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925312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4A"/>
                </a:solidFill>
              </a:rPr>
              <a:t>Criterios de éxito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2" y="1508760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99632" y="148132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</a:rPr>
              <a:t>&gt; 80% adopción en semana 2</a:t>
            </a:r>
            <a:endParaRPr lang="en-US" sz="9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312" y="1810512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199632" y="17830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</a:rPr>
              <a:t>–30% tiempo cierre órdenes</a:t>
            </a:r>
            <a:endParaRPr lang="en-US" sz="9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5312" y="2112264"/>
            <a:ext cx="201168" cy="20116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199632" y="20848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142"/>
                </a:solidFill>
              </a:rPr>
              <a:t>Tracking activo para cliente</a:t>
            </a:r>
            <a:endParaRPr lang="en-US" sz="950" dirty="0"/>
          </a:p>
        </p:txBody>
      </p:sp>
      <p:sp>
        <p:nvSpPr>
          <p:cNvPr id="23" name="Text 15"/>
          <p:cNvSpPr/>
          <p:nvPr/>
        </p:nvSpPr>
        <p:spPr>
          <a:xfrm>
            <a:off x="457200" y="2670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Próximos pasos concretos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457200" y="2999232"/>
            <a:ext cx="8229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457200" y="2999232"/>
            <a:ext cx="54864" cy="512064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640080" y="3108960"/>
            <a:ext cx="384048" cy="384048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64008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1170432" y="30175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6B"/>
                </a:solidFill>
              </a:rPr>
              <a:t>Esta semana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2944368" y="301752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</a:rPr>
              <a:t>Propuesta económica formal + resumen ejecutivo de 1 página para la dirección.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457200" y="3566160"/>
            <a:ext cx="8229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457200" y="3566160"/>
            <a:ext cx="54864" cy="512064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640080" y="3675888"/>
            <a:ext cx="384048" cy="384048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640080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1170432" y="35844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6B"/>
                </a:solidFill>
              </a:rPr>
              <a:t>Próxima semana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2944368" y="3584448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</a:rPr>
              <a:t>Llamada técnica (30 min) entre nuestro equipo y vuestro responsable IT para validar la integración ERP.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457200" y="4133088"/>
            <a:ext cx="8229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57200" y="4133088"/>
            <a:ext cx="54864" cy="512064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640080" y="4242816"/>
            <a:ext cx="384048" cy="384048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640080" y="4242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1170432" y="41513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6B"/>
                </a:solidFill>
              </a:rPr>
              <a:t>En 2 semanas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2944368" y="4151376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142"/>
                </a:solidFill>
              </a:rPr>
              <a:t>Reunión de cierre con el decisor final para resolver dudas y firmar el acuerdo de piloto.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457200" y="4754880"/>
            <a:ext cx="8229600" cy="384048"/>
          </a:xfrm>
          <a:prstGeom prst="rect">
            <a:avLst/>
          </a:prstGeom>
          <a:solidFill>
            <a:srgbClr val="FEF3E2"/>
          </a:solidFill>
          <a:ln w="7620">
            <a:solidFill>
              <a:srgbClr val="E07B27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548640" y="475488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E07B27"/>
                </a:solidFill>
              </a:rPr>
              <a:t>Preguntar al final: «¿Quién más debería estar en la siguiente reunión para poder avanzar?»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097280" cy="237744"/>
          </a:xfrm>
          <a:prstGeom prst="roundRect">
            <a:avLst>
              <a:gd name="adj" fmla="val 46154"/>
            </a:avLst>
          </a:prstGeom>
          <a:solidFill>
            <a:srgbClr val="E07B27"/>
          </a:solidFill>
          <a:ln w="12700">
            <a:solidFill>
              <a:srgbClr val="E07B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REFERENCIA INTERNA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91640" y="182880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Señales de alerta durante la demo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91640" y="521208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DE8"/>
                </a:solidFill>
              </a:rPr>
              <a:t>No compartir con el cliente — guía de uso interno para el consultor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E07B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54864" cy="685800"/>
          </a:xfrm>
          <a:prstGeom prst="rect">
            <a:avLst/>
          </a:prstGeom>
          <a:solidFill>
            <a:srgbClr val="E07B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225296"/>
            <a:ext cx="3749040" cy="566928"/>
          </a:xfrm>
          <a:prstGeom prst="rect">
            <a:avLst/>
          </a:prstGeom>
          <a:solidFill>
            <a:srgbClr val="FEF3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2344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07B27"/>
                </a:solidFill>
              </a:rPr>
              <a:t>SEÑAL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58368" y="142646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142"/>
                </a:solidFill>
              </a:rPr>
              <a:t>El cliente mira el móvil o deja de hacer preguntas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26280" y="12344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RESPUESTA RECOMENDADA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526280" y="142646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142"/>
                </a:solidFill>
              </a:rPr>
              <a:t>Pausar la demo. Preguntar directamente: «¿Esto es relevante para vosotros o preferís ver otra cosa?»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929384"/>
            <a:ext cx="822960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E07B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929384"/>
            <a:ext cx="54864" cy="685800"/>
          </a:xfrm>
          <a:prstGeom prst="rect">
            <a:avLst/>
          </a:prstGeom>
          <a:solidFill>
            <a:srgbClr val="E07B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1984248"/>
            <a:ext cx="3749040" cy="566928"/>
          </a:xfrm>
          <a:prstGeom prst="rect">
            <a:avLst/>
          </a:prstGeom>
          <a:solidFill>
            <a:srgbClr val="FEF3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199339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07B27"/>
                </a:solidFill>
              </a:rPr>
              <a:t>SEÑAL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58368" y="218541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142"/>
                </a:solidFill>
              </a:rPr>
              <a:t>Dicen «esto ya lo tenemos con otra herramienta»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26280" y="19933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RESPUESTA RECOMENDADA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526280" y="218541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142"/>
                </a:solidFill>
              </a:rPr>
              <a:t>Preguntar qué herramienta. Casi siempre es Excel o WhatsApp. Si es real, pedir que la describan y buscar el gap de trazabilidad.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688336"/>
            <a:ext cx="822960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E07B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688336"/>
            <a:ext cx="54864" cy="685800"/>
          </a:xfrm>
          <a:prstGeom prst="rect">
            <a:avLst/>
          </a:prstGeom>
          <a:solidFill>
            <a:srgbClr val="E07B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" y="2743200"/>
            <a:ext cx="3749040" cy="566928"/>
          </a:xfrm>
          <a:prstGeom prst="rect">
            <a:avLst/>
          </a:prstGeom>
          <a:solidFill>
            <a:srgbClr val="FEF3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75234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07B27"/>
                </a:solidFill>
              </a:rPr>
              <a:t>SEÑAL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58368" y="294436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142"/>
                </a:solidFill>
              </a:rPr>
              <a:t>Preguntan por el precio antes del bloque 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26280" y="275234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RESPUESTA RECOMENDADA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526280" y="294436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142"/>
                </a:solidFill>
              </a:rPr>
              <a:t>Dar un rango orientativo y redirigir: «Lo que quiero que veáis primero es si esto resuelve vuestro problema concreto.»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47288"/>
            <a:ext cx="822960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447288"/>
            <a:ext cx="54864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" y="3502152"/>
            <a:ext cx="3749040" cy="566928"/>
          </a:xfrm>
          <a:prstGeom prst="rect">
            <a:avLst/>
          </a:prstGeom>
          <a:solidFill>
            <a:srgbClr val="FDEC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351129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0392B"/>
                </a:solidFill>
              </a:rPr>
              <a:t>SEÑAL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58368" y="370332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142"/>
                </a:solidFill>
              </a:rPr>
              <a:t>No hacen preguntas en ningún momento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26280" y="351129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RESPUESTA RECOMENDADA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526280" y="37033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142"/>
                </a:solidFill>
              </a:rPr>
              <a:t>Señal de desconexión. Parar y preguntar: «¿Esto os está siendo útil? ¿Qué esperabais ver que no estamos mostrando?»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1A7A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206240"/>
            <a:ext cx="54864" cy="685800"/>
          </a:xfrm>
          <a:prstGeom prst="rect">
            <a:avLst/>
          </a:prstGeom>
          <a:solidFill>
            <a:srgbClr val="1A7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" y="4261104"/>
            <a:ext cx="3749040" cy="566928"/>
          </a:xfrm>
          <a:prstGeom prst="rect">
            <a:avLst/>
          </a:prstGeom>
          <a:solidFill>
            <a:srgbClr val="E3F5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427024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7A4A"/>
                </a:solidFill>
              </a:rPr>
              <a:t>SEÑAL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58368" y="446227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3142"/>
                </a:solidFill>
              </a:rPr>
              <a:t>Piden hablar con el CEO antes de decidir nada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26280" y="427024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RESPUESTA RECOMENDADA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526280" y="44622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142"/>
                </a:solidFill>
              </a:rPr>
              <a:t>Positivo: hay interés. Ofrecer preparar un resumen ejecutivo de 1 página para facilitar esa conversación.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731520"/>
            <a:ext cx="3840480" cy="3840480"/>
          </a:xfrm>
          <a:prstGeom prst="ellipse">
            <a:avLst/>
          </a:prstGeom>
          <a:solidFill>
            <a:srgbClr val="0E7C6B">
              <a:alpha val="10000"/>
            </a:srgbClr>
          </a:solidFill>
          <a:ln w="12700">
            <a:solidFill>
              <a:srgbClr val="0E7C6B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¿Esto resuelve vuestros tres problemas?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402336" cy="40233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236829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340864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EDE8"/>
                </a:solidFill>
              </a:rPr>
              <a:t>Coordinación en tiempo real → sin llamadas, sin Excel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2990088"/>
            <a:ext cx="402336" cy="40233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3026664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299923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EDE8"/>
                </a:solidFill>
              </a:rPr>
              <a:t>Partes digitales → datos disponibles en segundos, no en 48 horas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2920" y="3648456"/>
            <a:ext cx="402336" cy="402336"/>
          </a:xfrm>
          <a:prstGeom prst="ellipse">
            <a:avLst/>
          </a:prstGeom>
          <a:solidFill>
            <a:srgbClr val="0E7C6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3685032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365760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EDE8"/>
                </a:solidFill>
              </a:rPr>
              <a:t>SLAs documentados → el cliente corporativo ve cada intervención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02920" y="4370832"/>
            <a:ext cx="3474720" cy="45720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02920" y="437083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Propuesta en vuestro email en 48 horas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02920" y="4864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Proyecto de portfolio — Consultor Preventa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FieldService360 — Demo para LogiGroup</dc:title>
  <dc:subject>PptxGenJS Presentation</dc:subject>
  <dc:creator>PptxGenJS</dc:creator>
  <cp:lastModifiedBy>PptxGenJS</cp:lastModifiedBy>
  <cp:revision>1</cp:revision>
  <dcterms:created xsi:type="dcterms:W3CDTF">2026-04-29T11:06:48Z</dcterms:created>
  <dcterms:modified xsi:type="dcterms:W3CDTF">2026-04-29T11:06:48Z</dcterms:modified>
</cp:coreProperties>
</file>